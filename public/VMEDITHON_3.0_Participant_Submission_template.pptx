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ptos Bold" panose="020B0604020202020204" charset="0"/>
      <p:regular r:id="rId10"/>
    </p:embeddedFont>
    <p:embeddedFont>
      <p:font typeface="Archivo Black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nva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6268" y="6513043"/>
            <a:ext cx="4132316" cy="1455601"/>
            <a:chOff x="0" y="0"/>
            <a:chExt cx="5509755" cy="19408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09768" cy="1940814"/>
            </a:xfrm>
            <a:custGeom>
              <a:avLst/>
              <a:gdLst/>
              <a:ahLst/>
              <a:cxnLst/>
              <a:rect l="l" t="t" r="r" b="b"/>
              <a:pathLst>
                <a:path w="5509768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5186299" y="0"/>
                  </a:lnTo>
                  <a:cubicBezTo>
                    <a:pt x="5364988" y="0"/>
                    <a:pt x="5509768" y="144780"/>
                    <a:pt x="5509768" y="323469"/>
                  </a:cubicBezTo>
                  <a:lnTo>
                    <a:pt x="5509768" y="1617345"/>
                  </a:lnTo>
                  <a:cubicBezTo>
                    <a:pt x="5509768" y="1796034"/>
                    <a:pt x="5364988" y="1940814"/>
                    <a:pt x="518629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2273B"/>
            </a:solidFill>
            <a:ln w="14299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89444" y="6513043"/>
            <a:ext cx="4818650" cy="1455601"/>
            <a:chOff x="0" y="0"/>
            <a:chExt cx="6424866" cy="19408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24803" cy="1940814"/>
            </a:xfrm>
            <a:custGeom>
              <a:avLst/>
              <a:gdLst/>
              <a:ahLst/>
              <a:cxnLst/>
              <a:rect l="l" t="t" r="r" b="b"/>
              <a:pathLst>
                <a:path w="6424803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6101334" y="0"/>
                  </a:lnTo>
                  <a:cubicBezTo>
                    <a:pt x="6280023" y="0"/>
                    <a:pt x="6424803" y="144780"/>
                    <a:pt x="6424803" y="323469"/>
                  </a:cubicBezTo>
                  <a:lnTo>
                    <a:pt x="6424803" y="1617345"/>
                  </a:lnTo>
                  <a:cubicBezTo>
                    <a:pt x="6424803" y="1796034"/>
                    <a:pt x="6280023" y="1940814"/>
                    <a:pt x="6101334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2273B"/>
            </a:solidFill>
            <a:ln w="14299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11494" y="6513043"/>
            <a:ext cx="4132316" cy="1455601"/>
            <a:chOff x="0" y="0"/>
            <a:chExt cx="5509755" cy="19408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09768" cy="1940814"/>
            </a:xfrm>
            <a:custGeom>
              <a:avLst/>
              <a:gdLst/>
              <a:ahLst/>
              <a:cxnLst/>
              <a:rect l="l" t="t" r="r" b="b"/>
              <a:pathLst>
                <a:path w="5509768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5186299" y="0"/>
                  </a:lnTo>
                  <a:cubicBezTo>
                    <a:pt x="5364988" y="0"/>
                    <a:pt x="5509768" y="144780"/>
                    <a:pt x="5509768" y="323469"/>
                  </a:cubicBezTo>
                  <a:lnTo>
                    <a:pt x="5509768" y="1617345"/>
                  </a:lnTo>
                  <a:cubicBezTo>
                    <a:pt x="5509768" y="1796034"/>
                    <a:pt x="5364988" y="1940814"/>
                    <a:pt x="518629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2273B"/>
            </a:solidFill>
            <a:ln w="14299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5172677" y="8504960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983675" y="2766898"/>
            <a:ext cx="16151924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[TEAM NAME ]</a:t>
            </a:r>
          </a:p>
          <a:p>
            <a:pPr algn="l">
              <a:lnSpc>
                <a:spcPts val="6845"/>
              </a:lnSpc>
            </a:pPr>
            <a:r>
              <a:rPr lang="en-US" sz="5704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[Project Name]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4861" y="5014798"/>
            <a:ext cx="1464198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A one-line description of your open or healthcare innovation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6842" y="6784419"/>
            <a:ext cx="3660600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2AC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NAME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6842" y="7214149"/>
            <a:ext cx="4072404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[Team Name]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90018" y="6784419"/>
            <a:ext cx="3660600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2AC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TRACK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90018" y="7214149"/>
            <a:ext cx="4072404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[Open Innovation / Bio × Engineering]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2077" y="6784419"/>
            <a:ext cx="3660600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2AC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COLLEGE / ORGANIZATION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2077" y="7214149"/>
            <a:ext cx="4072404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[Name]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3675" y="8416319"/>
            <a:ext cx="1560285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278D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VMEDITHON 3.0  |  VIT CHENNAI  |  SEPTEMBER 15~16, 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1/7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01. 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Define the healthcare or engineering challenge your team is solving.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846411" y="3810943"/>
            <a:ext cx="7842604" cy="4915052"/>
          </a:xfrm>
          <a:custGeom>
            <a:avLst/>
            <a:gdLst/>
            <a:ahLst/>
            <a:cxnLst/>
            <a:rect l="l" t="t" r="r" b="b"/>
            <a:pathLst>
              <a:path w="2065542" h="1294499">
                <a:moveTo>
                  <a:pt x="51332" y="0"/>
                </a:moveTo>
                <a:lnTo>
                  <a:pt x="2014209" y="0"/>
                </a:lnTo>
                <a:cubicBezTo>
                  <a:pt x="2027824" y="0"/>
                  <a:pt x="2040880" y="5408"/>
                  <a:pt x="2050507" y="15035"/>
                </a:cubicBezTo>
                <a:cubicBezTo>
                  <a:pt x="2060134" y="24662"/>
                  <a:pt x="2065542" y="37718"/>
                  <a:pt x="2065542" y="51332"/>
                </a:cubicBezTo>
                <a:lnTo>
                  <a:pt x="2065542" y="1243167"/>
                </a:lnTo>
                <a:cubicBezTo>
                  <a:pt x="2065542" y="1256781"/>
                  <a:pt x="2060134" y="1269838"/>
                  <a:pt x="2050507" y="1279464"/>
                </a:cubicBezTo>
                <a:cubicBezTo>
                  <a:pt x="2040880" y="1289091"/>
                  <a:pt x="2027824" y="1294499"/>
                  <a:pt x="2014209" y="1294499"/>
                </a:cubicBezTo>
                <a:lnTo>
                  <a:pt x="51332" y="1294499"/>
                </a:lnTo>
                <a:cubicBezTo>
                  <a:pt x="37718" y="1294499"/>
                  <a:pt x="24662" y="1289091"/>
                  <a:pt x="15035" y="1279464"/>
                </a:cubicBezTo>
                <a:cubicBezTo>
                  <a:pt x="5408" y="1269838"/>
                  <a:pt x="0" y="1256781"/>
                  <a:pt x="0" y="1243167"/>
                </a:cubicBezTo>
                <a:lnTo>
                  <a:pt x="0" y="51332"/>
                </a:lnTo>
                <a:cubicBezTo>
                  <a:pt x="0" y="37718"/>
                  <a:pt x="5408" y="24662"/>
                  <a:pt x="15035" y="15035"/>
                </a:cubicBezTo>
                <a:cubicBezTo>
                  <a:pt x="24662" y="5408"/>
                  <a:pt x="37718" y="0"/>
                  <a:pt x="51332" y="0"/>
                </a:cubicBezTo>
                <a:close/>
              </a:path>
            </a:pathLst>
          </a:custGeom>
          <a:solidFill>
            <a:srgbClr val="12273B"/>
          </a:solidFill>
          <a:ln w="38100" cap="rnd">
            <a:solidFill>
              <a:srgbClr val="304F67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846411" y="3810943"/>
            <a:ext cx="7842604" cy="49150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1"/>
              </a:lnSpc>
            </a:pPr>
            <a:endParaRPr/>
          </a:p>
        </p:txBody>
      </p:sp>
      <p:grpSp>
        <p:nvGrpSpPr>
          <p:cNvPr id="15" name="Group 15"/>
          <p:cNvGrpSpPr/>
          <p:nvPr/>
        </p:nvGrpSpPr>
        <p:grpSpPr>
          <a:xfrm>
            <a:off x="9352093" y="3849043"/>
            <a:ext cx="8117834" cy="2280130"/>
            <a:chOff x="0" y="0"/>
            <a:chExt cx="2138030" cy="6005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8030" cy="600528"/>
            </a:xfrm>
            <a:custGeom>
              <a:avLst/>
              <a:gdLst/>
              <a:ahLst/>
              <a:cxnLst/>
              <a:rect l="l" t="t" r="r" b="b"/>
              <a:pathLst>
                <a:path w="2138030" h="600528">
                  <a:moveTo>
                    <a:pt x="54360" y="0"/>
                  </a:moveTo>
                  <a:lnTo>
                    <a:pt x="2083670" y="0"/>
                  </a:lnTo>
                  <a:cubicBezTo>
                    <a:pt x="2098087" y="0"/>
                    <a:pt x="2111914" y="5727"/>
                    <a:pt x="2122108" y="15922"/>
                  </a:cubicBezTo>
                  <a:cubicBezTo>
                    <a:pt x="2132303" y="26116"/>
                    <a:pt x="2138030" y="39943"/>
                    <a:pt x="2138030" y="54360"/>
                  </a:cubicBezTo>
                  <a:lnTo>
                    <a:pt x="2138030" y="546168"/>
                  </a:lnTo>
                  <a:cubicBezTo>
                    <a:pt x="2138030" y="576190"/>
                    <a:pt x="2113692" y="600528"/>
                    <a:pt x="2083670" y="600528"/>
                  </a:cubicBezTo>
                  <a:lnTo>
                    <a:pt x="54360" y="600528"/>
                  </a:lnTo>
                  <a:cubicBezTo>
                    <a:pt x="24338" y="600528"/>
                    <a:pt x="0" y="576190"/>
                    <a:pt x="0" y="546168"/>
                  </a:cubicBezTo>
                  <a:lnTo>
                    <a:pt x="0" y="54360"/>
                  </a:lnTo>
                  <a:cubicBezTo>
                    <a:pt x="0" y="24338"/>
                    <a:pt x="24338" y="0"/>
                    <a:pt x="54360" y="0"/>
                  </a:cubicBezTo>
                  <a:close/>
                </a:path>
              </a:pathLst>
            </a:custGeom>
            <a:solidFill>
              <a:srgbClr val="12273B"/>
            </a:solidFill>
            <a:ln w="38100" cap="rnd">
              <a:solidFill>
                <a:srgbClr val="304F67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38030" cy="600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52093" y="6445865"/>
            <a:ext cx="8117834" cy="2280130"/>
            <a:chOff x="0" y="0"/>
            <a:chExt cx="2138030" cy="6005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8030" cy="600528"/>
            </a:xfrm>
            <a:custGeom>
              <a:avLst/>
              <a:gdLst/>
              <a:ahLst/>
              <a:cxnLst/>
              <a:rect l="l" t="t" r="r" b="b"/>
              <a:pathLst>
                <a:path w="2138030" h="600528">
                  <a:moveTo>
                    <a:pt x="49592" y="0"/>
                  </a:moveTo>
                  <a:lnTo>
                    <a:pt x="2088438" y="0"/>
                  </a:lnTo>
                  <a:cubicBezTo>
                    <a:pt x="2101591" y="0"/>
                    <a:pt x="2114205" y="5225"/>
                    <a:pt x="2123505" y="14525"/>
                  </a:cubicBezTo>
                  <a:cubicBezTo>
                    <a:pt x="2132805" y="23825"/>
                    <a:pt x="2138030" y="36439"/>
                    <a:pt x="2138030" y="49592"/>
                  </a:cubicBezTo>
                  <a:lnTo>
                    <a:pt x="2138030" y="550936"/>
                  </a:lnTo>
                  <a:cubicBezTo>
                    <a:pt x="2138030" y="578325"/>
                    <a:pt x="2115827" y="600528"/>
                    <a:pt x="2088438" y="600528"/>
                  </a:cubicBezTo>
                  <a:lnTo>
                    <a:pt x="49592" y="600528"/>
                  </a:lnTo>
                  <a:cubicBezTo>
                    <a:pt x="22203" y="600528"/>
                    <a:pt x="0" y="578325"/>
                    <a:pt x="0" y="550936"/>
                  </a:cubicBezTo>
                  <a:lnTo>
                    <a:pt x="0" y="49592"/>
                  </a:lnTo>
                  <a:cubicBezTo>
                    <a:pt x="0" y="22203"/>
                    <a:pt x="22203" y="0"/>
                    <a:pt x="49592" y="0"/>
                  </a:cubicBezTo>
                  <a:close/>
                </a:path>
              </a:pathLst>
            </a:custGeom>
            <a:solidFill>
              <a:srgbClr val="12273B"/>
            </a:solidFill>
            <a:ln w="38100" cap="rnd">
              <a:solidFill>
                <a:srgbClr val="304F67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138030" cy="600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99391" y="4126763"/>
            <a:ext cx="722955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THE PROBLEM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9391" y="4781436"/>
            <a:ext cx="687098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[Describe the problem clearly. Who faces it, when does it occur, and why is it important?]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37410" y="4126763"/>
            <a:ext cx="7229551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TARGET USERS / STAKEHOLDERS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37410" y="4699083"/>
            <a:ext cx="7229551" cy="93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[Patients • Doctors • Hospitals • Communities • Industry]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37410" y="6734832"/>
            <a:ext cx="7229551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EVIDENCE &amp; CURRENT GAP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37410" y="7389514"/>
            <a:ext cx="7229551" cy="100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[Add data, statistics, user insights, or shortcomings of current solutions.]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2/7</a:t>
            </a:r>
          </a:p>
        </p:txBody>
      </p:sp>
      <p:sp>
        <p:nvSpPr>
          <p:cNvPr id="29" name="Freeform 29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Freeform 38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TextBox 39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5157B76C-90EE-D67B-1E8C-33B53A976C52}"/>
              </a:ext>
            </a:extLst>
          </p:cNvPr>
          <p:cNvSpPr/>
          <p:nvPr/>
        </p:nvSpPr>
        <p:spPr>
          <a:xfrm>
            <a:off x="846411" y="3810943"/>
            <a:ext cx="10104778" cy="4915052"/>
          </a:xfrm>
          <a:custGeom>
            <a:avLst/>
            <a:gdLst/>
            <a:ahLst/>
            <a:cxnLst/>
            <a:rect l="l" t="t" r="r" b="b"/>
            <a:pathLst>
              <a:path w="2065542" h="1294499">
                <a:moveTo>
                  <a:pt x="51332" y="0"/>
                </a:moveTo>
                <a:lnTo>
                  <a:pt x="2014209" y="0"/>
                </a:lnTo>
                <a:cubicBezTo>
                  <a:pt x="2027824" y="0"/>
                  <a:pt x="2040880" y="5408"/>
                  <a:pt x="2050507" y="15035"/>
                </a:cubicBezTo>
                <a:cubicBezTo>
                  <a:pt x="2060134" y="24662"/>
                  <a:pt x="2065542" y="37718"/>
                  <a:pt x="2065542" y="51332"/>
                </a:cubicBezTo>
                <a:lnTo>
                  <a:pt x="2065542" y="1243167"/>
                </a:lnTo>
                <a:cubicBezTo>
                  <a:pt x="2065542" y="1256781"/>
                  <a:pt x="2060134" y="1269838"/>
                  <a:pt x="2050507" y="1279464"/>
                </a:cubicBezTo>
                <a:cubicBezTo>
                  <a:pt x="2040880" y="1289091"/>
                  <a:pt x="2027824" y="1294499"/>
                  <a:pt x="2014209" y="1294499"/>
                </a:cubicBezTo>
                <a:lnTo>
                  <a:pt x="51332" y="1294499"/>
                </a:lnTo>
                <a:cubicBezTo>
                  <a:pt x="37718" y="1294499"/>
                  <a:pt x="24662" y="1289091"/>
                  <a:pt x="15035" y="1279464"/>
                </a:cubicBezTo>
                <a:cubicBezTo>
                  <a:pt x="5408" y="1269838"/>
                  <a:pt x="0" y="1256781"/>
                  <a:pt x="0" y="1243167"/>
                </a:cubicBezTo>
                <a:lnTo>
                  <a:pt x="0" y="51332"/>
                </a:lnTo>
                <a:cubicBezTo>
                  <a:pt x="0" y="37718"/>
                  <a:pt x="5408" y="24662"/>
                  <a:pt x="15035" y="15035"/>
                </a:cubicBezTo>
                <a:cubicBezTo>
                  <a:pt x="24662" y="5408"/>
                  <a:pt x="37718" y="0"/>
                  <a:pt x="51332" y="0"/>
                </a:cubicBezTo>
                <a:close/>
              </a:path>
            </a:pathLst>
          </a:custGeom>
          <a:solidFill>
            <a:srgbClr val="12273B"/>
          </a:solidFill>
          <a:ln w="38100" cap="rnd">
            <a:solidFill>
              <a:srgbClr val="304F67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02. OUR 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Explain what you are building and how it directly addresses the identified problem.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520916" y="3833946"/>
            <a:ext cx="5921559" cy="2215344"/>
            <a:chOff x="0" y="0"/>
            <a:chExt cx="7895412" cy="29537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95336" cy="2953766"/>
            </a:xfrm>
            <a:custGeom>
              <a:avLst/>
              <a:gdLst/>
              <a:ahLst/>
              <a:cxnLst/>
              <a:rect l="l" t="t" r="r" b="b"/>
              <a:pathLst>
                <a:path w="7895336" h="2953766">
                  <a:moveTo>
                    <a:pt x="0" y="492252"/>
                  </a:moveTo>
                  <a:cubicBezTo>
                    <a:pt x="0" y="220472"/>
                    <a:pt x="220472" y="0"/>
                    <a:pt x="492252" y="0"/>
                  </a:cubicBezTo>
                  <a:lnTo>
                    <a:pt x="7403084" y="0"/>
                  </a:lnTo>
                  <a:cubicBezTo>
                    <a:pt x="7674990" y="0"/>
                    <a:pt x="7895336" y="220472"/>
                    <a:pt x="7895336" y="492252"/>
                  </a:cubicBezTo>
                  <a:lnTo>
                    <a:pt x="7895336" y="2461514"/>
                  </a:lnTo>
                  <a:cubicBezTo>
                    <a:pt x="7895336" y="2733421"/>
                    <a:pt x="7674864" y="2953766"/>
                    <a:pt x="7403084" y="2953766"/>
                  </a:cubicBezTo>
                  <a:lnTo>
                    <a:pt x="492252" y="2953766"/>
                  </a:lnTo>
                  <a:cubicBezTo>
                    <a:pt x="220472" y="2953766"/>
                    <a:pt x="0" y="2733421"/>
                    <a:pt x="0" y="24615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520916" y="6510661"/>
            <a:ext cx="5921559" cy="2215344"/>
            <a:chOff x="0" y="0"/>
            <a:chExt cx="7895412" cy="29537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95336" cy="2953766"/>
            </a:xfrm>
            <a:custGeom>
              <a:avLst/>
              <a:gdLst/>
              <a:ahLst/>
              <a:cxnLst/>
              <a:rect l="l" t="t" r="r" b="b"/>
              <a:pathLst>
                <a:path w="7895336" h="2953766">
                  <a:moveTo>
                    <a:pt x="0" y="492252"/>
                  </a:moveTo>
                  <a:cubicBezTo>
                    <a:pt x="0" y="220472"/>
                    <a:pt x="220472" y="0"/>
                    <a:pt x="492252" y="0"/>
                  </a:cubicBezTo>
                  <a:lnTo>
                    <a:pt x="7403084" y="0"/>
                  </a:lnTo>
                  <a:cubicBezTo>
                    <a:pt x="7674990" y="0"/>
                    <a:pt x="7895336" y="220472"/>
                    <a:pt x="7895336" y="492252"/>
                  </a:cubicBezTo>
                  <a:lnTo>
                    <a:pt x="7895336" y="2461514"/>
                  </a:lnTo>
                  <a:cubicBezTo>
                    <a:pt x="7895336" y="2733421"/>
                    <a:pt x="7674864" y="2953766"/>
                    <a:pt x="7403084" y="2953766"/>
                  </a:cubicBezTo>
                  <a:lnTo>
                    <a:pt x="492252" y="2953766"/>
                  </a:lnTo>
                  <a:cubicBezTo>
                    <a:pt x="220472" y="2953766"/>
                    <a:pt x="0" y="2733421"/>
                    <a:pt x="0" y="24615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299391" y="4126763"/>
            <a:ext cx="942582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SOLUTION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781436"/>
            <a:ext cx="9425826" cy="361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[Describe your product, platform, device, application, or system in simple terms. Add a product mock-up or visual here if available.]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06234" y="4126763"/>
            <a:ext cx="5033277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KEY VALUE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06234" y="4781436"/>
            <a:ext cx="5033277" cy="93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[Why will users choose it?]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06234" y="6803469"/>
            <a:ext cx="5033277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CORE FEATURES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06234" y="7458151"/>
            <a:ext cx="5033277" cy="93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[Feature 1]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[Feature 2]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[Feature 3]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3/7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03. TECHNOLOGY &amp;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Show the technical flow behind your solution.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765318"/>
            <a:ext cx="16628402" cy="3519383"/>
            <a:chOff x="0" y="0"/>
            <a:chExt cx="22171203" cy="46925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71152" cy="4692523"/>
            </a:xfrm>
            <a:custGeom>
              <a:avLst/>
              <a:gdLst/>
              <a:ahLst/>
              <a:cxnLst/>
              <a:rect l="l" t="t" r="r" b="b"/>
              <a:pathLst>
                <a:path w="22171152" h="4692523">
                  <a:moveTo>
                    <a:pt x="0" y="782066"/>
                  </a:moveTo>
                  <a:cubicBezTo>
                    <a:pt x="0" y="350139"/>
                    <a:pt x="350139" y="0"/>
                    <a:pt x="782066" y="0"/>
                  </a:cubicBezTo>
                  <a:lnTo>
                    <a:pt x="21389085" y="0"/>
                  </a:lnTo>
                  <a:cubicBezTo>
                    <a:pt x="21821012" y="0"/>
                    <a:pt x="22171152" y="350139"/>
                    <a:pt x="22171152" y="782066"/>
                  </a:cubicBezTo>
                  <a:lnTo>
                    <a:pt x="22171152" y="3910457"/>
                  </a:lnTo>
                  <a:cubicBezTo>
                    <a:pt x="22171152" y="4342384"/>
                    <a:pt x="21821012" y="4692523"/>
                    <a:pt x="21389085" y="4692523"/>
                  </a:cubicBezTo>
                  <a:lnTo>
                    <a:pt x="782066" y="4692523"/>
                  </a:lnTo>
                  <a:cubicBezTo>
                    <a:pt x="350139" y="4692523"/>
                    <a:pt x="0" y="4342384"/>
                    <a:pt x="0" y="3910457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4073" y="7677436"/>
            <a:ext cx="5441118" cy="1048569"/>
            <a:chOff x="0" y="0"/>
            <a:chExt cx="7254824" cy="13980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54875" cy="1398143"/>
            </a:xfrm>
            <a:custGeom>
              <a:avLst/>
              <a:gdLst/>
              <a:ahLst/>
              <a:cxnLst/>
              <a:rect l="l" t="t" r="r" b="b"/>
              <a:pathLst>
                <a:path w="7254875" h="1398143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7021830" y="0"/>
                  </a:lnTo>
                  <a:cubicBezTo>
                    <a:pt x="7150481" y="0"/>
                    <a:pt x="7254875" y="104267"/>
                    <a:pt x="7254875" y="233045"/>
                  </a:cubicBezTo>
                  <a:lnTo>
                    <a:pt x="7254875" y="1165098"/>
                  </a:lnTo>
                  <a:cubicBezTo>
                    <a:pt x="7254875" y="1293749"/>
                    <a:pt x="7150608" y="1398143"/>
                    <a:pt x="7021830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3608" y="7686961"/>
            <a:ext cx="82363" cy="1029500"/>
            <a:chOff x="0" y="0"/>
            <a:chExt cx="109817" cy="13726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855" cy="1372616"/>
            </a:xfrm>
            <a:custGeom>
              <a:avLst/>
              <a:gdLst/>
              <a:ahLst/>
              <a:cxnLst/>
              <a:rect l="l" t="t" r="r" b="b"/>
              <a:pathLst>
                <a:path w="109855" h="1372616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14573" y="7677436"/>
            <a:ext cx="5441118" cy="1048569"/>
            <a:chOff x="0" y="0"/>
            <a:chExt cx="7254824" cy="13980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54875" cy="1398143"/>
            </a:xfrm>
            <a:custGeom>
              <a:avLst/>
              <a:gdLst/>
              <a:ahLst/>
              <a:cxnLst/>
              <a:rect l="l" t="t" r="r" b="b"/>
              <a:pathLst>
                <a:path w="7254875" h="1398143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7021830" y="0"/>
                  </a:lnTo>
                  <a:cubicBezTo>
                    <a:pt x="7150481" y="0"/>
                    <a:pt x="7254875" y="104267"/>
                    <a:pt x="7254875" y="233045"/>
                  </a:cubicBezTo>
                  <a:lnTo>
                    <a:pt x="7254875" y="1165098"/>
                  </a:lnTo>
                  <a:cubicBezTo>
                    <a:pt x="7254875" y="1293749"/>
                    <a:pt x="7150608" y="1398143"/>
                    <a:pt x="7021830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24108" y="7686961"/>
            <a:ext cx="82363" cy="1029500"/>
            <a:chOff x="0" y="0"/>
            <a:chExt cx="109817" cy="13726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855" cy="1372616"/>
            </a:xfrm>
            <a:custGeom>
              <a:avLst/>
              <a:gdLst/>
              <a:ahLst/>
              <a:cxnLst/>
              <a:rect l="l" t="t" r="r" b="b"/>
              <a:pathLst>
                <a:path w="109855" h="1372616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15073" y="7677436"/>
            <a:ext cx="5441118" cy="1048569"/>
            <a:chOff x="0" y="0"/>
            <a:chExt cx="7254824" cy="13980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54875" cy="1398143"/>
            </a:xfrm>
            <a:custGeom>
              <a:avLst/>
              <a:gdLst/>
              <a:ahLst/>
              <a:cxnLst/>
              <a:rect l="l" t="t" r="r" b="b"/>
              <a:pathLst>
                <a:path w="7254875" h="1398143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7021830" y="0"/>
                  </a:lnTo>
                  <a:cubicBezTo>
                    <a:pt x="7150481" y="0"/>
                    <a:pt x="7254875" y="104267"/>
                    <a:pt x="7254875" y="233045"/>
                  </a:cubicBezTo>
                  <a:lnTo>
                    <a:pt x="7254875" y="1165098"/>
                  </a:lnTo>
                  <a:cubicBezTo>
                    <a:pt x="7254875" y="1293749"/>
                    <a:pt x="7150608" y="1398143"/>
                    <a:pt x="7021830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024608" y="7686961"/>
            <a:ext cx="82363" cy="1029500"/>
            <a:chOff x="0" y="0"/>
            <a:chExt cx="109817" cy="13726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855" cy="1372616"/>
            </a:xfrm>
            <a:custGeom>
              <a:avLst/>
              <a:gdLst/>
              <a:ahLst/>
              <a:cxnLst/>
              <a:rect l="l" t="t" r="r" b="b"/>
              <a:pathLst>
                <a:path w="109855" h="1372616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F1BE2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Freeform 25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1299391" y="4058126"/>
            <a:ext cx="15740120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SYSTEM / WORKFLOW DIAGRAM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9391" y="4712808"/>
            <a:ext cx="15740120" cy="224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[Insert an editable architecture diagram, process flow, pipeline, or hardware–software interaction here.]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9391" y="7970244"/>
            <a:ext cx="455283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INPUT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99891" y="7970244"/>
            <a:ext cx="455283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PROCESSING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00400" y="7970244"/>
            <a:ext cx="455283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OUTPUT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4/7</a:t>
            </a:r>
          </a:p>
        </p:txBody>
      </p:sp>
      <p:sp>
        <p:nvSpPr>
          <p:cNvPr id="33" name="Freeform 33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Freeform 36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8" name="Group 38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Freeform 42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04. INNOVATION &amp; DIFFERENTIATION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Highlight what makes your approach novel, useful, and worth building.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765318"/>
            <a:ext cx="5372491" cy="4960687"/>
            <a:chOff x="0" y="0"/>
            <a:chExt cx="7163321" cy="66142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63308" cy="6614160"/>
            </a:xfrm>
            <a:custGeom>
              <a:avLst/>
              <a:gdLst/>
              <a:ahLst/>
              <a:cxnLst/>
              <a:rect l="l" t="t" r="r" b="b"/>
              <a:pathLst>
                <a:path w="7163308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6060948" y="0"/>
                  </a:lnTo>
                  <a:cubicBezTo>
                    <a:pt x="6669786" y="0"/>
                    <a:pt x="7163308" y="493522"/>
                    <a:pt x="7163308" y="1102360"/>
                  </a:cubicBezTo>
                  <a:lnTo>
                    <a:pt x="7163308" y="5511800"/>
                  </a:lnTo>
                  <a:cubicBezTo>
                    <a:pt x="7163308" y="6120638"/>
                    <a:pt x="6669786" y="6614160"/>
                    <a:pt x="6060948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69485" y="3765318"/>
            <a:ext cx="5372491" cy="4960687"/>
            <a:chOff x="0" y="0"/>
            <a:chExt cx="7163321" cy="66142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63308" cy="6614160"/>
            </a:xfrm>
            <a:custGeom>
              <a:avLst/>
              <a:gdLst/>
              <a:ahLst/>
              <a:cxnLst/>
              <a:rect l="l" t="t" r="r" b="b"/>
              <a:pathLst>
                <a:path w="7163308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6060948" y="0"/>
                  </a:lnTo>
                  <a:cubicBezTo>
                    <a:pt x="6669786" y="0"/>
                    <a:pt x="7163308" y="493522"/>
                    <a:pt x="7163308" y="1102360"/>
                  </a:cubicBezTo>
                  <a:lnTo>
                    <a:pt x="7163308" y="5511800"/>
                  </a:lnTo>
                  <a:cubicBezTo>
                    <a:pt x="7163308" y="6120638"/>
                    <a:pt x="6669786" y="6614160"/>
                    <a:pt x="6060948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24887" y="3765318"/>
            <a:ext cx="5372491" cy="4960687"/>
            <a:chOff x="0" y="0"/>
            <a:chExt cx="7163321" cy="66142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63308" cy="6614160"/>
            </a:xfrm>
            <a:custGeom>
              <a:avLst/>
              <a:gdLst/>
              <a:ahLst/>
              <a:cxnLst/>
              <a:rect l="l" t="t" r="r" b="b"/>
              <a:pathLst>
                <a:path w="7163308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6060948" y="0"/>
                  </a:lnTo>
                  <a:cubicBezTo>
                    <a:pt x="6669786" y="0"/>
                    <a:pt x="7163308" y="493522"/>
                    <a:pt x="7163308" y="1102360"/>
                  </a:cubicBezTo>
                  <a:lnTo>
                    <a:pt x="7163308" y="5511800"/>
                  </a:lnTo>
                  <a:cubicBezTo>
                    <a:pt x="7163308" y="6120638"/>
                    <a:pt x="6669786" y="6614160"/>
                    <a:pt x="6060948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299391" y="4058126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WHAT EXISTS TODAY?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712808"/>
            <a:ext cx="4484208" cy="368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[Briefly describe existing methods or competitors and their limitations.]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54803" y="4058126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WHAT WE DO DIFFERENTLY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4803" y="4712808"/>
            <a:ext cx="4484208" cy="368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[Explain your innovation, proprietary approach, or key differentiator.]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10214" y="4058126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10214" y="4712808"/>
            <a:ext cx="4484208" cy="368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[State the measurable benefit: faster, cheaper, safer, more accessible, more accurate, etc.]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5/7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05. IMPLEMENTATION &amp; FEASIBILITY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Demonstrate that your idea can move from concept to a practical solution.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765318"/>
            <a:ext cx="8186461" cy="4960687"/>
            <a:chOff x="0" y="0"/>
            <a:chExt cx="10915282" cy="66142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15269" cy="6614160"/>
            </a:xfrm>
            <a:custGeom>
              <a:avLst/>
              <a:gdLst/>
              <a:ahLst/>
              <a:cxnLst/>
              <a:rect l="l" t="t" r="r" b="b"/>
              <a:pathLst>
                <a:path w="10915269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9812909" y="0"/>
                  </a:lnTo>
                  <a:cubicBezTo>
                    <a:pt x="10421747" y="0"/>
                    <a:pt x="10915269" y="493522"/>
                    <a:pt x="10915269" y="1102360"/>
                  </a:cubicBezTo>
                  <a:lnTo>
                    <a:pt x="10915269" y="5511800"/>
                  </a:lnTo>
                  <a:cubicBezTo>
                    <a:pt x="10915269" y="6120638"/>
                    <a:pt x="10421747" y="6614160"/>
                    <a:pt x="9812909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24642" y="3765318"/>
            <a:ext cx="8186461" cy="2283971"/>
            <a:chOff x="0" y="0"/>
            <a:chExt cx="10915282" cy="30452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15397" cy="3045333"/>
            </a:xfrm>
            <a:custGeom>
              <a:avLst/>
              <a:gdLst/>
              <a:ahLst/>
              <a:cxnLst/>
              <a:rect l="l" t="t" r="r" b="b"/>
              <a:pathLst>
                <a:path w="10915397" h="3045333">
                  <a:moveTo>
                    <a:pt x="0" y="507619"/>
                  </a:moveTo>
                  <a:cubicBezTo>
                    <a:pt x="0" y="227203"/>
                    <a:pt x="227203" y="0"/>
                    <a:pt x="507619" y="0"/>
                  </a:cubicBezTo>
                  <a:lnTo>
                    <a:pt x="10407777" y="0"/>
                  </a:lnTo>
                  <a:cubicBezTo>
                    <a:pt x="10688066" y="0"/>
                    <a:pt x="10915397" y="227203"/>
                    <a:pt x="10915397" y="507619"/>
                  </a:cubicBezTo>
                  <a:lnTo>
                    <a:pt x="10915397" y="2537714"/>
                  </a:lnTo>
                  <a:cubicBezTo>
                    <a:pt x="10915397" y="2818003"/>
                    <a:pt x="10688193" y="3045333"/>
                    <a:pt x="10407777" y="3045333"/>
                  </a:cubicBezTo>
                  <a:lnTo>
                    <a:pt x="507619" y="3045333"/>
                  </a:lnTo>
                  <a:cubicBezTo>
                    <a:pt x="227203" y="3045333"/>
                    <a:pt x="0" y="2818003"/>
                    <a:pt x="0" y="25377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24642" y="6442024"/>
            <a:ext cx="8186461" cy="2283971"/>
            <a:chOff x="0" y="0"/>
            <a:chExt cx="10915282" cy="30452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15397" cy="3045333"/>
            </a:xfrm>
            <a:custGeom>
              <a:avLst/>
              <a:gdLst/>
              <a:ahLst/>
              <a:cxnLst/>
              <a:rect l="l" t="t" r="r" b="b"/>
              <a:pathLst>
                <a:path w="10915397" h="3045333">
                  <a:moveTo>
                    <a:pt x="0" y="507619"/>
                  </a:moveTo>
                  <a:cubicBezTo>
                    <a:pt x="0" y="227203"/>
                    <a:pt x="227203" y="0"/>
                    <a:pt x="507619" y="0"/>
                  </a:cubicBezTo>
                  <a:lnTo>
                    <a:pt x="10407777" y="0"/>
                  </a:lnTo>
                  <a:cubicBezTo>
                    <a:pt x="10688066" y="0"/>
                    <a:pt x="10915397" y="227203"/>
                    <a:pt x="10915397" y="507619"/>
                  </a:cubicBezTo>
                  <a:lnTo>
                    <a:pt x="10915397" y="2537714"/>
                  </a:lnTo>
                  <a:cubicBezTo>
                    <a:pt x="10915397" y="2818003"/>
                    <a:pt x="10688193" y="3045333"/>
                    <a:pt x="10407777" y="3045333"/>
                  </a:cubicBezTo>
                  <a:lnTo>
                    <a:pt x="507619" y="3045333"/>
                  </a:lnTo>
                  <a:cubicBezTo>
                    <a:pt x="227203" y="3045333"/>
                    <a:pt x="0" y="2818003"/>
                    <a:pt x="0" y="25377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299391" y="4058126"/>
            <a:ext cx="729818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CURRENT PROGRESS / PROTOTYPE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712808"/>
            <a:ext cx="7298188" cy="368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[What have you built or validated so far? Add screenshots, prototype images, testing results, or a demo QR if needed.]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9959" y="4058126"/>
            <a:ext cx="729818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PLAN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9959" y="4712808"/>
            <a:ext cx="7298188" cy="100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[Phase 1] → [Phase 2] → [Phase 3]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9959" y="6734832"/>
            <a:ext cx="729818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RESOURCES &amp; FEASIBILITY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09959" y="7389514"/>
            <a:ext cx="7298188" cy="100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[Technology • Cost • Partnerships • Regulatory considerations]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6/7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06. IMPACT, ROADMAP &amp; TEAM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Conclude with the potential of your solution and the people building it.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696681"/>
            <a:ext cx="5509755" cy="4892050"/>
            <a:chOff x="0" y="0"/>
            <a:chExt cx="7346340" cy="65227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46315" cy="6522720"/>
            </a:xfrm>
            <a:custGeom>
              <a:avLst/>
              <a:gdLst/>
              <a:ahLst/>
              <a:cxnLst/>
              <a:rect l="l" t="t" r="r" b="b"/>
              <a:pathLst>
                <a:path w="7346315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6259195" y="0"/>
                  </a:lnTo>
                  <a:cubicBezTo>
                    <a:pt x="6859651" y="0"/>
                    <a:pt x="7346315" y="486791"/>
                    <a:pt x="7346315" y="1087120"/>
                  </a:cubicBezTo>
                  <a:lnTo>
                    <a:pt x="7346315" y="5435600"/>
                  </a:lnTo>
                  <a:cubicBezTo>
                    <a:pt x="7346315" y="6036056"/>
                    <a:pt x="6859524" y="6522720"/>
                    <a:pt x="6259195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79299" y="3696681"/>
            <a:ext cx="5235216" cy="4892050"/>
            <a:chOff x="0" y="0"/>
            <a:chExt cx="6980288" cy="65227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0301" cy="6522720"/>
            </a:xfrm>
            <a:custGeom>
              <a:avLst/>
              <a:gdLst/>
              <a:ahLst/>
              <a:cxnLst/>
              <a:rect l="l" t="t" r="r" b="b"/>
              <a:pathLst>
                <a:path w="6980301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5893181" y="0"/>
                  </a:lnTo>
                  <a:cubicBezTo>
                    <a:pt x="6493637" y="0"/>
                    <a:pt x="6980301" y="486791"/>
                    <a:pt x="6980301" y="1087120"/>
                  </a:cubicBezTo>
                  <a:lnTo>
                    <a:pt x="6980301" y="5435600"/>
                  </a:lnTo>
                  <a:cubicBezTo>
                    <a:pt x="6980301" y="6036056"/>
                    <a:pt x="6493510" y="6522720"/>
                    <a:pt x="5893181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69985" y="3696681"/>
            <a:ext cx="5372491" cy="4892050"/>
            <a:chOff x="0" y="0"/>
            <a:chExt cx="7163321" cy="65227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63308" cy="6522720"/>
            </a:xfrm>
            <a:custGeom>
              <a:avLst/>
              <a:gdLst/>
              <a:ahLst/>
              <a:cxnLst/>
              <a:rect l="l" t="t" r="r" b="b"/>
              <a:pathLst>
                <a:path w="7163308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6076188" y="0"/>
                  </a:lnTo>
                  <a:cubicBezTo>
                    <a:pt x="6676644" y="0"/>
                    <a:pt x="7163308" y="486791"/>
                    <a:pt x="7163308" y="1087120"/>
                  </a:cubicBezTo>
                  <a:lnTo>
                    <a:pt x="7163308" y="5435600"/>
                  </a:lnTo>
                  <a:cubicBezTo>
                    <a:pt x="7163308" y="6036056"/>
                    <a:pt x="6676517" y="6522720"/>
                    <a:pt x="6076188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299391" y="3989489"/>
            <a:ext cx="4621473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EXPECTED IMPACT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644171"/>
            <a:ext cx="4621473" cy="361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[Health impact]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[Social impact]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[Business / scalability impact]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64616" y="3989489"/>
            <a:ext cx="4346943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NEXT 6–12 MONTHS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64616" y="4644171"/>
            <a:ext cx="4346943" cy="361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[Milestone 1]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[Milestone 2]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[Milestone 3]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[Milestone 4]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5303" y="3989489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TEAM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55303" y="4644171"/>
            <a:ext cx="4484208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[Member Name : Role]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[Member Name : Role]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[Member Name : Role]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[Contact / Email]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7/7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61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 School of Computer Science &amp; Engineering</a:t>
            </a:r>
          </a:p>
          <a:p>
            <a:pPr algn="ctr">
              <a:lnSpc>
                <a:spcPts val="3183"/>
              </a:lnSpc>
            </a:pPr>
            <a:endParaRPr lang="en-US" sz="2274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07542" y="4271782"/>
            <a:ext cx="8210883" cy="1944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35"/>
              </a:lnSpc>
            </a:pPr>
            <a:r>
              <a:rPr lang="en-US" sz="126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han</a:t>
            </a:r>
            <a:r>
              <a:rPr lang="en-US" sz="12696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 </a:t>
            </a:r>
            <a:r>
              <a:rPr lang="en-US" sz="126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y</a:t>
            </a:r>
            <a:r>
              <a:rPr lang="en-US" sz="12696">
                <a:solidFill>
                  <a:srgbClr val="278DD6"/>
                </a:solidFill>
                <a:latin typeface="Archivo Black"/>
                <a:ea typeface="Archivo Black"/>
                <a:cs typeface="Archivo Black"/>
                <a:sym typeface="Archivo Black"/>
              </a:rPr>
              <a:t>o</a:t>
            </a:r>
            <a:r>
              <a:rPr lang="en-US" sz="126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u</a:t>
            </a:r>
            <a:r>
              <a:rPr lang="en-US" sz="12696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8" name="Freeform 8"/>
          <p:cNvSpPr/>
          <p:nvPr/>
        </p:nvSpPr>
        <p:spPr>
          <a:xfrm>
            <a:off x="4103306" y="3669868"/>
            <a:ext cx="2358214" cy="2635006"/>
          </a:xfrm>
          <a:custGeom>
            <a:avLst/>
            <a:gdLst/>
            <a:ahLst/>
            <a:cxnLst/>
            <a:rect l="l" t="t" r="r" b="b"/>
            <a:pathLst>
              <a:path w="2358214" h="2635006">
                <a:moveTo>
                  <a:pt x="0" y="0"/>
                </a:moveTo>
                <a:lnTo>
                  <a:pt x="2358214" y="0"/>
                </a:lnTo>
                <a:lnTo>
                  <a:pt x="2358214" y="2635006"/>
                </a:lnTo>
                <a:lnTo>
                  <a:pt x="0" y="2635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479" t="-4075" r="-127625" b="-931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777773" y="8068652"/>
            <a:ext cx="3568945" cy="1189648"/>
          </a:xfrm>
          <a:custGeom>
            <a:avLst/>
            <a:gdLst/>
            <a:ahLst/>
            <a:cxnLst/>
            <a:rect l="l" t="t" r="r" b="b"/>
            <a:pathLst>
              <a:path w="3568945" h="1189648">
                <a:moveTo>
                  <a:pt x="0" y="0"/>
                </a:moveTo>
                <a:lnTo>
                  <a:pt x="3568946" y="0"/>
                </a:lnTo>
                <a:lnTo>
                  <a:pt x="3568946" y="1189648"/>
                </a:lnTo>
                <a:lnTo>
                  <a:pt x="0" y="1189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586</Words>
  <Application>Microsoft Office PowerPoint</Application>
  <PresentationFormat>Custom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 (MS)</vt:lpstr>
      <vt:lpstr>Calibri</vt:lpstr>
      <vt:lpstr>Archivo Black</vt:lpstr>
      <vt:lpstr>Canva Sans Bold</vt:lpstr>
      <vt:lpstr>Aptos</vt:lpstr>
      <vt:lpstr>Aptos Bold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VMEDITHON_3.0_Participant_Submission_Template.pptx</dc:title>
  <cp:lastModifiedBy>Sugeeth Jayaraj Samala Augustine</cp:lastModifiedBy>
  <cp:revision>2</cp:revision>
  <dcterms:created xsi:type="dcterms:W3CDTF">2006-08-16T00:00:00Z</dcterms:created>
  <dcterms:modified xsi:type="dcterms:W3CDTF">2026-09-07T19:00:36Z</dcterms:modified>
  <dc:identifier>DAHUUwFGJrI</dc:identifier>
</cp:coreProperties>
</file>